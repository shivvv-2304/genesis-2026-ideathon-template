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09/10/2026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p:spPr>
      </p:sp>
      <p:sp>
        <p:nvSpPr>
          <p:cNvPr id="5" name="Text 2"/>
          <p:cNvSpPr/>
          <p:nvPr/>
        </p:nvSpPr>
        <p:spPr>
          <a:xfrm>
            <a:off x="2286000" y="6355080"/>
            <a:ext cx="7619695" cy="502920"/>
          </a:xfrm>
          <a:prstGeom prst="rect">
            <a:avLst/>
          </a:prstGeom>
          <a:noFill/>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p:spPr>
        <p:txBody>
          <a:bodyPr wrap="square" rtlCol="0"/>
          <a:lstStyle>
            <a:lvl1pPr marL="0" indent="0" algn="ctr">
              <a:buNone/>
              <a:def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p:spPr>
      </p:sp>
      <p:sp>
        <p:nvSpPr>
          <p:cNvPr id="6" name="Cover Hexagon"/>
          <p:cNvSpPr/>
          <p:nvPr/>
        </p:nvSpPr>
        <p:spPr>
          <a:xfrm rot="5400000">
            <a:off x="10849583" y="1728216"/>
            <a:ext cx="337874" cy="292608"/>
          </a:xfrm>
          <a:prstGeom prst="hexagon">
            <a:avLst/>
          </a:prstGeom>
          <a:solidFill>
            <a:schemeClr val="accent3">
              <a:alpha val="70000"/>
            </a:schemeClr>
          </a:solidFill>
        </p:spPr>
      </p:sp>
      <p:sp>
        <p:nvSpPr>
          <p:cNvPr id="7" name="Cover Hexagon"/>
          <p:cNvSpPr/>
          <p:nvPr/>
        </p:nvSpPr>
        <p:spPr>
          <a:xfrm rot="5400000">
            <a:off x="6868728" y="1440180"/>
            <a:ext cx="4276224" cy="3703320"/>
          </a:xfrm>
          <a:prstGeom prst="hexagon">
            <a:avLst/>
          </a:prstGeom>
          <a:solidFill>
            <a:schemeClr val="accent1">
              <a:alpha val="45000"/>
            </a:schemeClr>
          </a:solidFill>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p:spPr>
        <p:txBody>
          <a:bodyPr wrap="square" lIns="0" tIns="0" rIns="0" bIns="0" rtlCol="0" anchor="t"/>
          <a:lstStyle/>
          <a:p>
            <a:pPr marL="0" indent="0">
              <a:lnSpc>
                <a:spcPct val="90000"/>
              </a:lnSpc>
              <a:buNone/>
            </a:pPr>
            <a:r>
              <a:rPr lang="en-US" sz="5400" b="1" kern="0" spc="200" dirty="0">
                <a:solidFill>
                  <a:schemeClr val="bg1"/>
                </a:solidFill>
                <a:latin typeface="Cambria" panose="02040503050406030204" pitchFamily="34" charset="0"/>
                <a:ea typeface="Cambria" panose="02040503050406030204" pitchFamily="34" charset="-122"/>
                <a:cs typeface="Cambria" panose="02040503050406030204" pitchFamily="34" charset="-120"/>
              </a:rPr>
              <a:t>GENESIS</a:t>
            </a:r>
            <a:endParaRPr lang="en-US" sz="5400" dirty="0"/>
          </a:p>
          <a:p>
            <a:pPr marL="0" indent="0">
              <a:lnSpc>
                <a:spcPct val="90000"/>
              </a:lnSpc>
              <a:buNone/>
            </a:pPr>
            <a:r>
              <a:rPr lang="en-US" sz="5400" b="1" kern="0" spc="200" dirty="0">
                <a:solidFill>
                  <a:schemeClr val="accent3"/>
                </a:solidFill>
                <a:latin typeface="Cambria" panose="02040503050406030204" pitchFamily="34" charset="0"/>
                <a:ea typeface="Cambria" panose="02040503050406030204" pitchFamily="34" charset="-122"/>
                <a:cs typeface="Cambria" panose="02040503050406030204" pitchFamily="34" charset="-120"/>
              </a:rPr>
              <a:t>IDEATHON</a:t>
            </a:r>
            <a:endParaRPr lang="en-US" sz="5400" dirty="0"/>
          </a:p>
        </p:txBody>
      </p:sp>
      <p:sp>
        <p:nvSpPr>
          <p:cNvPr id="13" name="Section Chip"/>
          <p:cNvSpPr/>
          <p:nvPr/>
        </p:nvSpPr>
        <p:spPr>
          <a:xfrm>
            <a:off x="439420" y="2392045"/>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365760" y="2869565"/>
            <a:ext cx="6035040" cy="2560320"/>
          </a:xfrm>
          <a:prstGeom prst="rect">
            <a:avLst/>
          </a:prstGeom>
          <a:noFill/>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IN" altLang="en-US" sz="1800" dirty="0">
                <a:solidFill>
                  <a:schemeClr val="bg1"/>
                </a:solidFill>
              </a:rPr>
              <a:t> DynaCharge</a:t>
            </a:r>
            <a:endParaRPr lang="en-US" sz="1800" dirty="0"/>
          </a:p>
          <a:p>
            <a:pPr marL="279400" indent="-279400">
              <a:spcAft>
                <a:spcPts val="1400"/>
              </a:spcAft>
              <a:buClr>
                <a:schemeClr val="accent3"/>
              </a:buClr>
              <a:buSzPct val="100000"/>
              <a:buChar char="•"/>
            </a:pPr>
            <a:r>
              <a:rPr lang="en-US" sz="1800" dirty="0">
                <a:solidFill>
                  <a:schemeClr val="bg1"/>
                </a:solidFill>
              </a:rPr>
              <a:t>Team Members –</a:t>
            </a:r>
          </a:p>
          <a:p>
            <a:pPr>
              <a:spcAft>
                <a:spcPts val="1400"/>
              </a:spcAft>
              <a:buClr>
                <a:schemeClr val="accent3"/>
              </a:buClr>
              <a:buSzPct val="100000"/>
            </a:pPr>
            <a:r>
              <a:rPr lang="en-IN" altLang="en-US" sz="1800" dirty="0">
                <a:solidFill>
                  <a:schemeClr val="bg1"/>
                </a:solidFill>
              </a:rPr>
              <a:t> </a:t>
            </a:r>
            <a:r>
              <a:rPr lang="en-US" altLang="en-US" sz="1800" dirty="0" err="1">
                <a:solidFill>
                  <a:schemeClr val="bg1"/>
                </a:solidFill>
              </a:rPr>
              <a:t>Sathi</a:t>
            </a:r>
            <a:r>
              <a:rPr lang="en-US" altLang="en-US" sz="1800" dirty="0">
                <a:solidFill>
                  <a:schemeClr val="bg1"/>
                </a:solidFill>
              </a:rPr>
              <a:t> Siva Ramakrishna Reddy</a:t>
            </a:r>
            <a:r>
              <a:rPr lang="en-IN" altLang="en-US" sz="1800" dirty="0">
                <a:solidFill>
                  <a:schemeClr val="bg1"/>
                </a:solidFill>
              </a:rPr>
              <a:t>- CB.EN.U4ARE25043</a:t>
            </a:r>
            <a:endParaRPr lang="en-US" sz="1800" dirty="0">
              <a:solidFill>
                <a:schemeClr val="bg1"/>
              </a:solidFill>
            </a:endParaRPr>
          </a:p>
          <a:p>
            <a:pPr indent="0">
              <a:spcAft>
                <a:spcPts val="1400"/>
              </a:spcAft>
              <a:buClr>
                <a:schemeClr val="accent3"/>
              </a:buClr>
              <a:buSzPct val="100000"/>
              <a:buNone/>
            </a:pPr>
            <a:r>
              <a:rPr lang="en-IN" altLang="en-US" sz="1800" dirty="0">
                <a:solidFill>
                  <a:schemeClr val="bg1"/>
                </a:solidFill>
              </a:rPr>
              <a:t>  </a:t>
            </a:r>
            <a:r>
              <a:rPr lang="en-US" altLang="en-US" sz="1800" dirty="0" err="1">
                <a:solidFill>
                  <a:schemeClr val="bg1"/>
                </a:solidFill>
              </a:rPr>
              <a:t>Galanagari</a:t>
            </a:r>
            <a:r>
              <a:rPr lang="en-US" altLang="en-US" sz="1800" dirty="0">
                <a:solidFill>
                  <a:schemeClr val="bg1"/>
                </a:solidFill>
              </a:rPr>
              <a:t> Karthik Reddy</a:t>
            </a:r>
            <a:r>
              <a:rPr lang="en-IN" altLang="en-US" sz="1800" dirty="0">
                <a:solidFill>
                  <a:schemeClr val="bg1"/>
                </a:solidFill>
              </a:rPr>
              <a:t> - CB.EN.U4ARE25016</a:t>
            </a:r>
          </a:p>
          <a:p>
            <a:pPr indent="0">
              <a:spcAft>
                <a:spcPts val="1400"/>
              </a:spcAft>
              <a:buClr>
                <a:schemeClr val="accent3"/>
              </a:buClr>
              <a:buSzPct val="100000"/>
              <a:buNone/>
            </a:pPr>
            <a:r>
              <a:rPr lang="en-IN" altLang="en-US" sz="1800" dirty="0">
                <a:solidFill>
                  <a:schemeClr val="bg1"/>
                </a:solidFill>
              </a:rPr>
              <a:t>   </a:t>
            </a:r>
            <a:r>
              <a:rPr lang="en-US" altLang="en-US" sz="1800" dirty="0">
                <a:solidFill>
                  <a:schemeClr val="bg1"/>
                </a:solidFill>
              </a:rPr>
              <a:t>Maanasha S</a:t>
            </a:r>
            <a:r>
              <a:rPr lang="en-IN" altLang="en-US" sz="1800" dirty="0">
                <a:solidFill>
                  <a:schemeClr val="bg1"/>
                </a:solidFill>
              </a:rPr>
              <a:t> - CB.EN.U4ARE25025</a:t>
            </a:r>
          </a:p>
          <a:p>
            <a:pPr indent="0">
              <a:spcAft>
                <a:spcPts val="1400"/>
              </a:spcAft>
              <a:buClr>
                <a:schemeClr val="accent3"/>
              </a:buClr>
              <a:buSzPct val="100000"/>
              <a:buNone/>
            </a:pPr>
            <a:r>
              <a:rPr lang="en-IN" altLang="en-US" sz="1800" dirty="0">
                <a:solidFill>
                  <a:schemeClr val="bg1"/>
                </a:solidFill>
              </a:rPr>
              <a:t>    Reshma - CB.EN.U4ARE25036</a:t>
            </a:r>
          </a:p>
          <a:p>
            <a:pPr marL="279400" indent="-279400">
              <a:spcAft>
                <a:spcPts val="1400"/>
              </a:spcAft>
              <a:buClr>
                <a:schemeClr val="accent3"/>
              </a:buClr>
              <a:buSzPct val="100000"/>
              <a:buChar char="•"/>
            </a:pPr>
            <a:r>
              <a:rPr lang="en-US" sz="1800" dirty="0">
                <a:solidFill>
                  <a:schemeClr val="bg1"/>
                </a:solidFill>
              </a:rPr>
              <a:t>Selected Domain –</a:t>
            </a:r>
            <a:r>
              <a:rPr lang="en-IN" altLang="en-US" sz="1800" dirty="0">
                <a:solidFill>
                  <a:schemeClr val="bg1"/>
                </a:solidFill>
              </a:rPr>
              <a:t> 2</a:t>
            </a:r>
            <a:endParaRPr lang="en-US" sz="1800" dirty="0"/>
          </a:p>
          <a:p>
            <a:pPr marL="279400" indent="-279400">
              <a:spcAft>
                <a:spcPts val="1400"/>
              </a:spcAft>
              <a:buClr>
                <a:schemeClr val="accent3"/>
              </a:buClr>
              <a:buSzPct val="100000"/>
              <a:buChar char="•"/>
            </a:pPr>
            <a:r>
              <a:rPr lang="en-US" sz="1800" b="1" dirty="0">
                <a:solidFill>
                  <a:schemeClr val="bg1"/>
                </a:solidFill>
              </a:rPr>
              <a:t>Problem Statement - </a:t>
            </a:r>
            <a:endParaRPr lang="en-IN" altLang="en-US" sz="1800" b="1" dirty="0">
              <a:solidFill>
                <a:schemeClr val="bg1"/>
              </a:solidFill>
            </a:endParaRPr>
          </a:p>
        </p:txBody>
      </p:sp>
      <p:sp>
        <p:nvSpPr>
          <p:cNvPr id="17" name="TextBox 16"/>
          <p:cNvSpPr txBox="1"/>
          <p:nvPr/>
        </p:nvSpPr>
        <p:spPr>
          <a:xfrm>
            <a:off x="2594187" y="5992876"/>
            <a:ext cx="9352280" cy="923330"/>
          </a:xfrm>
          <a:prstGeom prst="rect">
            <a:avLst/>
          </a:prstGeom>
          <a:noFill/>
        </p:spPr>
        <p:txBody>
          <a:bodyPr wrap="square" rtlCol="0">
            <a:spAutoFit/>
          </a:bodyPr>
          <a:lstStyle/>
          <a:p>
            <a:r>
              <a:rPr lang="en-US" altLang="en-US" dirty="0">
                <a:solidFill>
                  <a:schemeClr val="bg1"/>
                </a:solidFill>
              </a:rPr>
              <a:t>Battery-powered systems have limited operating time and require frequent charging, leading to operational downtime and reduced productivity. As the demand for continuous operation increases, maintaining reliable and uninterrupted power availability remains a major challenge.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indent="0">
              <a:spcAft>
                <a:spcPts val="1000"/>
              </a:spcAft>
              <a:buClr>
                <a:schemeClr val="accent1"/>
              </a:buClr>
              <a:buSzPct val="100000"/>
              <a:buNone/>
            </a:pPr>
            <a:r>
              <a:rPr lang="en-IN" altLang="en-US" dirty="0">
                <a:solidFill>
                  <a:schemeClr val="tx1"/>
                </a:solidFill>
              </a:rPr>
              <a:t>         </a:t>
            </a:r>
            <a:r>
              <a:rPr lang="en-US" dirty="0">
                <a:solidFill>
                  <a:schemeClr val="tx1"/>
                </a:solidFill>
              </a:rPr>
              <a:t> </a:t>
            </a:r>
            <a:r>
              <a:rPr lang="en-IN" altLang="en-US" dirty="0">
                <a:solidFill>
                  <a:schemeClr val="tx1"/>
                </a:solidFill>
              </a:rPr>
              <a:t> Electrically powered systems often depend on stored battery energy  which limits their operating time and can require frequent interruptions for charging. Wireless charging during operation but maintaining reliable power transfer under changing operating conditions remains difficult. Variations in charging power , coil alignment,thermal conditions,battery state of charge and load demand can affect the availabitiy and reliability of energy during operation. </a:t>
            </a:r>
            <a:endParaRPr lang="en-US" dirty="0"/>
          </a:p>
          <a:p>
            <a:pPr marL="279400" indent="-279400">
              <a:spcAft>
                <a:spcPts val="1000"/>
              </a:spcAft>
              <a:buClr>
                <a:schemeClr val="accent1"/>
              </a:buClr>
              <a:buSzPct val="100000"/>
              <a:buChar char="•"/>
            </a:pPr>
            <a:r>
              <a:rPr lang="en-US" sz="1800" dirty="0">
                <a:solidFill>
                  <a:schemeClr val="tx1"/>
                </a:solidFill>
              </a:rPr>
              <a:t>Why is it important right now?</a:t>
            </a:r>
          </a:p>
          <a:p>
            <a:pPr indent="0">
              <a:spcAft>
                <a:spcPts val="1000"/>
              </a:spcAft>
              <a:buClr>
                <a:schemeClr val="accent1"/>
              </a:buClr>
              <a:buSzPct val="100000"/>
              <a:buNone/>
            </a:pPr>
            <a:r>
              <a:rPr lang="en-IN" altLang="en-US" sz="1800" dirty="0"/>
              <a:t>           As electric vehicles, autonomous robots and automated transportation systems move toward longer and more continuous operation , unexpected charging interruptions and inefficient energy utilization can reduce productivity and continuity of energy availability during operation is an important challenge for next-generation electrically powered systems.</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2</a:t>
            </a:fld>
            <a:endParaRPr lang="en-US"/>
          </a:p>
        </p:txBody>
      </p:sp>
      <p:sp>
        <p:nvSpPr>
          <p:cNvPr id="11" name="Team Name">
            <a:extLst>
              <a:ext uri="{FF2B5EF4-FFF2-40B4-BE49-F238E27FC236}">
                <a16:creationId xmlns:a16="http://schemas.microsoft.com/office/drawing/2014/main" id="{7D15E5B2-DC4E-3B52-1833-5DF34039317D}"/>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123825" y="2148840"/>
            <a:ext cx="11169015" cy="4160520"/>
          </a:xfrm>
          <a:prstGeom prst="rect">
            <a:avLst/>
          </a:prstGeom>
          <a:noFill/>
        </p:spPr>
        <p:txBody>
          <a:bodyPr wrap="square" lIns="0" tIns="0" rIns="0" bIns="0" rtlCol="0" anchor="t"/>
          <a:lstStyle/>
          <a:p>
            <a:pPr marL="285750" indent="-285750">
              <a:lnSpc>
                <a:spcPct val="100000"/>
              </a:lnSpc>
              <a:spcAft>
                <a:spcPts val="1000"/>
              </a:spcAft>
              <a:buClr>
                <a:schemeClr val="accent1"/>
              </a:buClr>
              <a:buSzPct val="100000"/>
              <a:buFont typeface="Arial" panose="020B0604020202020204" pitchFamily="34" charset="0"/>
              <a:buChar char="•"/>
            </a:pPr>
            <a:r>
              <a:rPr lang="en-US" altLang="en-US" sz="1600" b="1" dirty="0"/>
              <a:t>Primary Users :</a:t>
            </a:r>
          </a:p>
          <a:p>
            <a:pPr indent="0">
              <a:lnSpc>
                <a:spcPct val="100000"/>
              </a:lnSpc>
              <a:spcAft>
                <a:spcPts val="1000"/>
              </a:spcAft>
              <a:buClr>
                <a:schemeClr val="accent1"/>
              </a:buClr>
              <a:buSzPct val="100000"/>
              <a:buNone/>
            </a:pPr>
            <a:r>
              <a:rPr lang="en-US" altLang="en-US" sz="1600" dirty="0"/>
              <a:t>- Electric vehicle operators and fleet owners</a:t>
            </a:r>
          </a:p>
          <a:p>
            <a:pPr indent="0">
              <a:lnSpc>
                <a:spcPct val="100000"/>
              </a:lnSpc>
              <a:spcAft>
                <a:spcPts val="1000"/>
              </a:spcAft>
              <a:buClr>
                <a:schemeClr val="accent1"/>
              </a:buClr>
              <a:buSzPct val="100000"/>
              <a:buNone/>
            </a:pPr>
            <a:r>
              <a:rPr lang="en-US" altLang="en-US" sz="1600" dirty="0"/>
              <a:t>- Autonomous mobile robot and industrial automation operators</a:t>
            </a:r>
          </a:p>
          <a:p>
            <a:pPr indent="0">
              <a:lnSpc>
                <a:spcPct val="100000"/>
              </a:lnSpc>
              <a:spcAft>
                <a:spcPts val="1000"/>
              </a:spcAft>
              <a:buClr>
                <a:schemeClr val="accent1"/>
              </a:buClr>
              <a:buSzPct val="100000"/>
              <a:buNone/>
            </a:pPr>
            <a:r>
              <a:rPr lang="en-US" altLang="en-US" sz="1600" dirty="0"/>
              <a:t>- Users of battery-powered systems requiring extended operating time</a:t>
            </a:r>
            <a:endParaRPr lang="en-US" altLang="en-US" sz="1200" dirty="0"/>
          </a:p>
          <a:p>
            <a:pPr marL="285750" indent="-285750">
              <a:lnSpc>
                <a:spcPct val="100000"/>
              </a:lnSpc>
              <a:spcAft>
                <a:spcPts val="1000"/>
              </a:spcAft>
              <a:buClr>
                <a:schemeClr val="accent1"/>
              </a:buClr>
              <a:buSzPct val="100000"/>
              <a:buFont typeface="Arial" panose="020B0604020202020204" pitchFamily="34" charset="0"/>
              <a:buChar char="•"/>
            </a:pPr>
            <a:r>
              <a:rPr lang="en-US" altLang="en-US" sz="1600" b="1" dirty="0"/>
              <a:t>Secondary Stakeholders :</a:t>
            </a:r>
          </a:p>
          <a:p>
            <a:pPr indent="0">
              <a:lnSpc>
                <a:spcPct val="100000"/>
              </a:lnSpc>
              <a:spcAft>
                <a:spcPts val="1000"/>
              </a:spcAft>
              <a:buClr>
                <a:schemeClr val="accent1"/>
              </a:buClr>
              <a:buSzPct val="100000"/>
              <a:buNone/>
            </a:pPr>
            <a:r>
              <a:rPr lang="en-US" altLang="en-US" sz="1600" dirty="0"/>
              <a:t>- EV and battery manufacturers</a:t>
            </a:r>
          </a:p>
          <a:p>
            <a:pPr indent="0">
              <a:lnSpc>
                <a:spcPct val="100000"/>
              </a:lnSpc>
              <a:spcAft>
                <a:spcPts val="1000"/>
              </a:spcAft>
              <a:buClr>
                <a:schemeClr val="accent1"/>
              </a:buClr>
              <a:buSzPct val="100000"/>
              <a:buNone/>
            </a:pPr>
            <a:r>
              <a:rPr lang="en-US" altLang="en-US" sz="1600" dirty="0"/>
              <a:t>- Industrial automation companies</a:t>
            </a:r>
          </a:p>
          <a:p>
            <a:pPr indent="0">
              <a:lnSpc>
                <a:spcPct val="100000"/>
              </a:lnSpc>
              <a:spcAft>
                <a:spcPts val="1000"/>
              </a:spcAft>
              <a:buClr>
                <a:schemeClr val="accent1"/>
              </a:buClr>
              <a:buSzPct val="100000"/>
              <a:buNone/>
            </a:pPr>
            <a:r>
              <a:rPr lang="en-US" altLang="en-US" sz="1600" dirty="0"/>
              <a:t>- Charging infrastructure developers</a:t>
            </a:r>
            <a:endParaRPr lang="en-US" altLang="en-US" sz="1200" dirty="0"/>
          </a:p>
          <a:p>
            <a:pPr marL="285750" indent="-285750">
              <a:lnSpc>
                <a:spcPct val="100000"/>
              </a:lnSpc>
              <a:spcAft>
                <a:spcPts val="1000"/>
              </a:spcAft>
              <a:buClr>
                <a:schemeClr val="accent1"/>
              </a:buClr>
              <a:buSzPct val="100000"/>
              <a:buFont typeface="Arial" panose="020B0604020202020204" pitchFamily="34" charset="0"/>
              <a:buChar char="•"/>
            </a:pPr>
            <a:r>
              <a:rPr lang="en-US" altLang="en-US" sz="1600" b="1" dirty="0"/>
              <a:t>Who Benefits?</a:t>
            </a:r>
            <a:endParaRPr lang="en-US" altLang="en-US" sz="1600" dirty="0"/>
          </a:p>
          <a:p>
            <a:pPr indent="0">
              <a:lnSpc>
                <a:spcPct val="100000"/>
              </a:lnSpc>
              <a:spcAft>
                <a:spcPts val="1000"/>
              </a:spcAft>
              <a:buClr>
                <a:schemeClr val="accent1"/>
              </a:buClr>
              <a:buSzPct val="100000"/>
              <a:buNone/>
            </a:pPr>
            <a:r>
              <a:rPr lang="en-US" altLang="en-US" sz="1600" dirty="0"/>
              <a:t>Users benefit from reduced charging-related downtime, improved operational availability, and more reliable energy utilization.</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3</a:t>
            </a:fld>
            <a:endParaRPr lang="en-US"/>
          </a:p>
        </p:txBody>
      </p:sp>
      <p:sp>
        <p:nvSpPr>
          <p:cNvPr id="11" name="Team Name">
            <a:extLst>
              <a:ext uri="{FF2B5EF4-FFF2-40B4-BE49-F238E27FC236}">
                <a16:creationId xmlns:a16="http://schemas.microsoft.com/office/drawing/2014/main" id="{6E6DE526-6169-BEE5-753A-43682E65A45E}"/>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456565" y="2148840"/>
            <a:ext cx="11281410" cy="4114800"/>
          </a:xfrm>
          <a:prstGeom prst="rect">
            <a:avLst/>
          </a:prstGeom>
          <a:noFill/>
        </p:spPr>
        <p:txBody>
          <a:bodyPr wrap="square" lIns="0" tIns="0" rIns="0" bIns="0" rtlCol="0" anchor="t"/>
          <a:lstStyle/>
          <a:p>
            <a:pPr marL="342900" indent="-342900">
              <a:spcAft>
                <a:spcPts val="1000"/>
              </a:spcAft>
              <a:buClr>
                <a:schemeClr val="accent1"/>
              </a:buClr>
              <a:buSzPct val="100000"/>
              <a:buFont typeface="Arial" panose="020B0604020202020204" pitchFamily="34" charset="0"/>
              <a:buChar char="•"/>
            </a:pPr>
            <a:r>
              <a:rPr lang="en-US" altLang="en-US" sz="2000" dirty="0"/>
              <a:t>Battery-powered systems store energy for operation and must be recharged when their available energy becomes insufficient. Depending on the application, charging may require the system to stop, reducing productivity and availability.</a:t>
            </a:r>
          </a:p>
          <a:p>
            <a:pPr marL="342900" indent="-342900">
              <a:spcAft>
                <a:spcPts val="1000"/>
              </a:spcAft>
              <a:buClr>
                <a:schemeClr val="accent1"/>
              </a:buClr>
              <a:buSzPct val="100000"/>
              <a:buFont typeface="Arial" panose="020B0604020202020204" pitchFamily="34" charset="0"/>
              <a:buChar char="•"/>
            </a:pPr>
            <a:r>
              <a:rPr lang="en-US" altLang="en-US" sz="2000" dirty="0"/>
              <a:t>During operation, energy consumption varies with load demand, while battery state-of-charge and temperature change over time. Wireless charging technologies offer an alternative way to supply energy, but their performance can vary with coil alignment, separation distance, battery temperature, battery health, battery capacity and operating conditions.</a:t>
            </a:r>
          </a:p>
          <a:p>
            <a:pPr marL="342900" indent="-342900">
              <a:spcAft>
                <a:spcPts val="1000"/>
              </a:spcAft>
              <a:buClr>
                <a:schemeClr val="accent1"/>
              </a:buClr>
              <a:buSzPct val="100000"/>
              <a:buFont typeface="Arial" panose="020B0604020202020204" pitchFamily="34" charset="0"/>
              <a:buChar char="•"/>
            </a:pPr>
            <a:r>
              <a:rPr lang="en-US" altLang="en-US" sz="2000" dirty="0"/>
              <a:t>Consequently, maintaining reliable energy availability while balancing performance, charging requirements, and battery health remains a challenge.</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4</a:t>
            </a:fld>
            <a:endParaRPr lang="en-US"/>
          </a:p>
        </p:txBody>
      </p:sp>
      <p:sp>
        <p:nvSpPr>
          <p:cNvPr id="11" name="Team Name">
            <a:extLst>
              <a:ext uri="{FF2B5EF4-FFF2-40B4-BE49-F238E27FC236}">
                <a16:creationId xmlns:a16="http://schemas.microsoft.com/office/drawing/2014/main" id="{85CA9BED-6FF5-D1F0-F4F7-D49CD026818A}"/>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505460" y="2148840"/>
            <a:ext cx="11224260" cy="4024630"/>
          </a:xfrm>
          <a:prstGeom prst="rect">
            <a:avLst/>
          </a:prstGeom>
          <a:noFill/>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altLang="en-US" sz="1600" b="1" dirty="0"/>
              <a:t>Main Difficulties :</a:t>
            </a:r>
          </a:p>
          <a:p>
            <a:pPr indent="0">
              <a:spcAft>
                <a:spcPts val="1000"/>
              </a:spcAft>
              <a:buClr>
                <a:schemeClr val="accent1"/>
              </a:buClr>
              <a:buSzPct val="100000"/>
              <a:buNone/>
            </a:pPr>
            <a:r>
              <a:rPr lang="en-US" altLang="en-US" sz="1600" dirty="0"/>
              <a:t>- Limited operating time due to finite battery capacity.</a:t>
            </a:r>
          </a:p>
          <a:p>
            <a:pPr indent="0">
              <a:spcAft>
                <a:spcPts val="1000"/>
              </a:spcAft>
              <a:buClr>
                <a:schemeClr val="accent1"/>
              </a:buClr>
              <a:buSzPct val="100000"/>
              <a:buNone/>
            </a:pPr>
            <a:r>
              <a:rPr lang="en-US" altLang="en-US" sz="1600" dirty="0"/>
              <a:t>- Downtime during charging.</a:t>
            </a:r>
          </a:p>
          <a:p>
            <a:pPr indent="0">
              <a:spcAft>
                <a:spcPts val="1000"/>
              </a:spcAft>
              <a:buClr>
                <a:schemeClr val="accent1"/>
              </a:buClr>
              <a:buSzPct val="100000"/>
              <a:buNone/>
            </a:pPr>
            <a:r>
              <a:rPr lang="en-US" altLang="en-US" sz="1600" dirty="0"/>
              <a:t>- Variations in power demand and charging availability.</a:t>
            </a:r>
          </a:p>
          <a:p>
            <a:pPr indent="0">
              <a:spcAft>
                <a:spcPts val="1000"/>
              </a:spcAft>
              <a:buClr>
                <a:schemeClr val="accent1"/>
              </a:buClr>
              <a:buSzPct val="100000"/>
              <a:buNone/>
            </a:pPr>
            <a:r>
              <a:rPr lang="en-US" altLang="en-US" sz="1600" dirty="0"/>
              <a:t>- Thermal stress and changing battery conditions.</a:t>
            </a:r>
          </a:p>
          <a:p>
            <a:pPr marL="285750" indent="-285750">
              <a:spcAft>
                <a:spcPts val="1000"/>
              </a:spcAft>
              <a:buClr>
                <a:schemeClr val="accent1"/>
              </a:buClr>
              <a:buSzPct val="100000"/>
              <a:buFont typeface="Arial" panose="020B0604020202020204" pitchFamily="34" charset="0"/>
              <a:buChar char="•"/>
            </a:pPr>
            <a:r>
              <a:rPr lang="en-US" altLang="en-US" sz="1600" b="1" dirty="0"/>
              <a:t>Root Causes:</a:t>
            </a:r>
          </a:p>
          <a:p>
            <a:pPr indent="0">
              <a:spcAft>
                <a:spcPts val="1000"/>
              </a:spcAft>
              <a:buClr>
                <a:schemeClr val="accent1"/>
              </a:buClr>
              <a:buSzPct val="100000"/>
              <a:buNone/>
            </a:pPr>
            <a:r>
              <a:rPr lang="en-US" altLang="en-US" sz="1600" dirty="0"/>
              <a:t>Limited stored energy, variable loads, wireless power transfer losses, changing battery state-of-charge, and heat generation during charging and discharging.</a:t>
            </a:r>
          </a:p>
          <a:p>
            <a:pPr marL="285750" indent="-285750">
              <a:spcAft>
                <a:spcPts val="1000"/>
              </a:spcAft>
              <a:buClr>
                <a:schemeClr val="accent1"/>
              </a:buClr>
              <a:buSzPct val="100000"/>
              <a:buFont typeface="Arial" panose="020B0604020202020204" pitchFamily="34" charset="0"/>
              <a:buChar char="•"/>
            </a:pPr>
            <a:r>
              <a:rPr lang="en-US" altLang="en-US" sz="1600" b="1" dirty="0"/>
              <a:t>Consequences:</a:t>
            </a:r>
          </a:p>
          <a:p>
            <a:pPr indent="0">
              <a:spcAft>
                <a:spcPts val="1000"/>
              </a:spcAft>
              <a:buClr>
                <a:schemeClr val="accent1"/>
              </a:buClr>
              <a:buSzPct val="100000"/>
              <a:buNone/>
            </a:pPr>
            <a:r>
              <a:rPr lang="en-US" altLang="en-US" sz="1600" dirty="0"/>
              <a:t>Reduced productivity, interrupted operation, inefficient energy utilization, and potential degradation of battery performance and lifespan.</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5</a:t>
            </a:fld>
            <a:endParaRPr lang="en-US"/>
          </a:p>
        </p:txBody>
      </p:sp>
      <p:sp>
        <p:nvSpPr>
          <p:cNvPr id="11" name="Team Name">
            <a:extLst>
              <a:ext uri="{FF2B5EF4-FFF2-40B4-BE49-F238E27FC236}">
                <a16:creationId xmlns:a16="http://schemas.microsoft.com/office/drawing/2014/main" id="{5136EE33-2169-F19F-C709-7776562A236A}"/>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334645" y="1920240"/>
            <a:ext cx="11272520" cy="4407535"/>
          </a:xfrm>
          <a:prstGeom prst="rect">
            <a:avLst/>
          </a:prstGeom>
          <a:noFill/>
        </p:spPr>
        <p:txBody>
          <a:bodyPr wrap="square" lIns="0" tIns="0" rIns="0" bIns="0" rtlCol="0" anchor="t"/>
          <a:lstStyle/>
          <a:p>
            <a:pPr indent="0">
              <a:lnSpc>
                <a:spcPct val="60000"/>
              </a:lnSpc>
              <a:spcBef>
                <a:spcPts val="0"/>
              </a:spcBef>
              <a:spcAft>
                <a:spcPts val="1000"/>
              </a:spcAft>
              <a:buClr>
                <a:schemeClr val="accent1"/>
              </a:buClr>
              <a:buSzPct val="100000"/>
              <a:buNone/>
            </a:pPr>
            <a:r>
              <a:rPr lang="en-US" altLang="en-US" sz="1600" b="1" dirty="0"/>
              <a:t>1. Conventional Battery Systems</a:t>
            </a:r>
          </a:p>
          <a:p>
            <a:pPr indent="0">
              <a:lnSpc>
                <a:spcPct val="60000"/>
              </a:lnSpc>
              <a:spcBef>
                <a:spcPts val="0"/>
              </a:spcBef>
              <a:spcAft>
                <a:spcPts val="1000"/>
              </a:spcAft>
              <a:buClr>
                <a:schemeClr val="accent1"/>
              </a:buClr>
              <a:buSzPct val="100000"/>
              <a:buNone/>
            </a:pPr>
            <a:r>
              <a:rPr lang="en-US" altLang="en-US" sz="1600" dirty="0"/>
              <a:t> Provide stored energy for electric vehicles and robots, but require recharging when the available energy becomes insufficient.</a:t>
            </a:r>
          </a:p>
          <a:p>
            <a:pPr indent="0">
              <a:lnSpc>
                <a:spcPct val="60000"/>
              </a:lnSpc>
              <a:spcBef>
                <a:spcPts val="0"/>
              </a:spcBef>
              <a:spcAft>
                <a:spcPts val="1000"/>
              </a:spcAft>
              <a:buClr>
                <a:schemeClr val="accent1"/>
              </a:buClr>
              <a:buSzPct val="100000"/>
              <a:buNone/>
            </a:pPr>
            <a:r>
              <a:rPr lang="en-US" altLang="en-US" sz="1600" b="1" dirty="0"/>
              <a:t>Limitation:  </a:t>
            </a:r>
            <a:r>
              <a:rPr lang="en-US" altLang="en-US" sz="1600" dirty="0"/>
              <a:t>Charging interruptions can reduce operational availability.</a:t>
            </a:r>
          </a:p>
          <a:p>
            <a:pPr indent="0">
              <a:lnSpc>
                <a:spcPct val="60000"/>
              </a:lnSpc>
              <a:spcBef>
                <a:spcPts val="0"/>
              </a:spcBef>
              <a:spcAft>
                <a:spcPts val="1000"/>
              </a:spcAft>
              <a:buClr>
                <a:schemeClr val="accent1"/>
              </a:buClr>
              <a:buSzPct val="100000"/>
              <a:buNone/>
            </a:pPr>
            <a:endParaRPr lang="en-US" altLang="en-US" sz="1600" dirty="0"/>
          </a:p>
          <a:p>
            <a:pPr indent="0">
              <a:lnSpc>
                <a:spcPct val="60000"/>
              </a:lnSpc>
              <a:spcBef>
                <a:spcPts val="0"/>
              </a:spcBef>
              <a:spcAft>
                <a:spcPts val="1000"/>
              </a:spcAft>
              <a:buClr>
                <a:schemeClr val="accent1"/>
              </a:buClr>
              <a:buSzPct val="100000"/>
              <a:buNone/>
            </a:pPr>
            <a:r>
              <a:rPr lang="en-US" altLang="en-US" sz="1600" b="1" dirty="0"/>
              <a:t>2. Stationary Charging Systems</a:t>
            </a:r>
          </a:p>
          <a:p>
            <a:pPr indent="0">
              <a:lnSpc>
                <a:spcPct val="60000"/>
              </a:lnSpc>
              <a:spcBef>
                <a:spcPts val="0"/>
              </a:spcBef>
              <a:spcAft>
                <a:spcPts val="1000"/>
              </a:spcAft>
              <a:buClr>
                <a:schemeClr val="accent1"/>
              </a:buClr>
              <a:buSzPct val="100000"/>
              <a:buNone/>
            </a:pPr>
            <a:r>
              <a:rPr lang="en-US" altLang="en-US" sz="1600" dirty="0"/>
              <a:t>Recharge batteries at dedicated charging stations or through wired connections.</a:t>
            </a:r>
          </a:p>
          <a:p>
            <a:pPr indent="0">
              <a:lnSpc>
                <a:spcPct val="60000"/>
              </a:lnSpc>
              <a:spcBef>
                <a:spcPts val="0"/>
              </a:spcBef>
              <a:spcAft>
                <a:spcPts val="1000"/>
              </a:spcAft>
              <a:buClr>
                <a:schemeClr val="accent1"/>
              </a:buClr>
              <a:buSzPct val="100000"/>
              <a:buNone/>
            </a:pPr>
            <a:r>
              <a:rPr lang="en-US" altLang="en-US" sz="1600" b="1" dirty="0"/>
              <a:t>Limitation:</a:t>
            </a:r>
            <a:r>
              <a:rPr lang="en-US" altLang="en-US" sz="1600" dirty="0"/>
              <a:t>  Systems may need to stop operating and remain connected during charging.</a:t>
            </a:r>
          </a:p>
          <a:p>
            <a:pPr indent="0">
              <a:lnSpc>
                <a:spcPct val="60000"/>
              </a:lnSpc>
              <a:spcBef>
                <a:spcPts val="0"/>
              </a:spcBef>
              <a:spcAft>
                <a:spcPts val="1000"/>
              </a:spcAft>
              <a:buClr>
                <a:schemeClr val="accent1"/>
              </a:buClr>
              <a:buSzPct val="100000"/>
              <a:buNone/>
            </a:pPr>
            <a:endParaRPr lang="en-US" altLang="en-US" sz="1600" dirty="0"/>
          </a:p>
          <a:p>
            <a:pPr indent="0">
              <a:lnSpc>
                <a:spcPct val="60000"/>
              </a:lnSpc>
              <a:spcBef>
                <a:spcPts val="0"/>
              </a:spcBef>
              <a:spcAft>
                <a:spcPts val="1000"/>
              </a:spcAft>
              <a:buClr>
                <a:schemeClr val="accent1"/>
              </a:buClr>
              <a:buSzPct val="100000"/>
              <a:buNone/>
            </a:pPr>
            <a:r>
              <a:rPr lang="en-US" altLang="en-US" sz="1600" b="1" dirty="0"/>
              <a:t>3. Dynamic Wireless Power Transfer</a:t>
            </a:r>
          </a:p>
          <a:p>
            <a:pPr indent="0">
              <a:lnSpc>
                <a:spcPct val="60000"/>
              </a:lnSpc>
              <a:spcBef>
                <a:spcPts val="0"/>
              </a:spcBef>
              <a:spcAft>
                <a:spcPts val="1000"/>
              </a:spcAft>
              <a:buClr>
                <a:schemeClr val="accent1"/>
              </a:buClr>
              <a:buSzPct val="100000"/>
              <a:buNone/>
            </a:pPr>
            <a:r>
              <a:rPr lang="en-US" altLang="en-US" sz="1600" dirty="0"/>
              <a:t>Transfers electrical energy wirelessly while a compatible receiver moves over or near a transmitter.</a:t>
            </a:r>
          </a:p>
          <a:p>
            <a:pPr indent="0">
              <a:lnSpc>
                <a:spcPct val="60000"/>
              </a:lnSpc>
              <a:spcBef>
                <a:spcPts val="0"/>
              </a:spcBef>
              <a:spcAft>
                <a:spcPts val="1000"/>
              </a:spcAft>
              <a:buClr>
                <a:schemeClr val="accent1"/>
              </a:buClr>
              <a:buSzPct val="100000"/>
              <a:buNone/>
            </a:pPr>
            <a:r>
              <a:rPr lang="en-US" altLang="en-US" sz="1600" b="1" dirty="0"/>
              <a:t>Limitation:   </a:t>
            </a:r>
            <a:r>
              <a:rPr lang="en-US" altLang="en-US" sz="1600" dirty="0"/>
              <a:t>Power transfer efficiency depends on coil alignment, separation distance, operating conditions, and system design.</a:t>
            </a:r>
          </a:p>
          <a:p>
            <a:pPr indent="0">
              <a:lnSpc>
                <a:spcPct val="60000"/>
              </a:lnSpc>
              <a:spcBef>
                <a:spcPts val="0"/>
              </a:spcBef>
              <a:spcAft>
                <a:spcPts val="1000"/>
              </a:spcAft>
              <a:buClr>
                <a:schemeClr val="accent1"/>
              </a:buClr>
              <a:buSzPct val="100000"/>
              <a:buNone/>
            </a:pPr>
            <a:endParaRPr lang="en-US" altLang="en-US" sz="1600" b="1" dirty="0"/>
          </a:p>
          <a:p>
            <a:pPr indent="0">
              <a:lnSpc>
                <a:spcPct val="60000"/>
              </a:lnSpc>
              <a:spcBef>
                <a:spcPts val="0"/>
              </a:spcBef>
              <a:spcAft>
                <a:spcPts val="1000"/>
              </a:spcAft>
              <a:buClr>
                <a:schemeClr val="accent1"/>
              </a:buClr>
              <a:buSzPct val="100000"/>
              <a:buNone/>
            </a:pPr>
            <a:r>
              <a:rPr lang="en-US" altLang="en-US" sz="1600" b="1" dirty="0"/>
              <a:t>4. Battery Management Systems</a:t>
            </a:r>
          </a:p>
          <a:p>
            <a:pPr indent="0">
              <a:lnSpc>
                <a:spcPct val="60000"/>
              </a:lnSpc>
              <a:spcBef>
                <a:spcPts val="0"/>
              </a:spcBef>
              <a:spcAft>
                <a:spcPts val="1000"/>
              </a:spcAft>
              <a:buClr>
                <a:schemeClr val="accent1"/>
              </a:buClr>
              <a:buSzPct val="100000"/>
              <a:buNone/>
            </a:pPr>
            <a:r>
              <a:rPr lang="en-US" altLang="en-US" sz="1600" dirty="0"/>
              <a:t>Monitor battery parameters such as voltage, current, temperature, and state-of-charge.</a:t>
            </a:r>
          </a:p>
          <a:p>
            <a:pPr indent="0">
              <a:lnSpc>
                <a:spcPct val="60000"/>
              </a:lnSpc>
              <a:spcBef>
                <a:spcPts val="0"/>
              </a:spcBef>
              <a:spcAft>
                <a:spcPts val="1000"/>
              </a:spcAft>
              <a:buClr>
                <a:schemeClr val="accent1"/>
              </a:buClr>
              <a:buSzPct val="100000"/>
              <a:buNone/>
            </a:pPr>
            <a:r>
              <a:rPr lang="en-US" altLang="en-US" sz="1600" b="1" dirty="0"/>
              <a:t>Limitation:</a:t>
            </a:r>
            <a:r>
              <a:rPr lang="en-US" altLang="en-US" sz="1600" dirty="0"/>
              <a:t>Monitoring alone does not eliminate charging downtime or guarantee uninterrupted energy availability.</a:t>
            </a:r>
          </a:p>
          <a:p>
            <a:pPr indent="0">
              <a:lnSpc>
                <a:spcPct val="60000"/>
              </a:lnSpc>
              <a:spcBef>
                <a:spcPts val="0"/>
              </a:spcBef>
              <a:spcAft>
                <a:spcPts val="1000"/>
              </a:spcAft>
              <a:buClr>
                <a:schemeClr val="accent1"/>
              </a:buClr>
              <a:buSzPct val="100000"/>
              <a:buNone/>
            </a:pPr>
            <a:r>
              <a:rPr lang="en-US" altLang="en-US" sz="1600" dirty="0"/>
              <a:t>Identified Gap:Maintaining reliable energy supply while addressing charging interruptions, varying loads, and battery operating conditions remains a challenge.</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6</a:t>
            </a:fld>
            <a:endParaRPr lang="en-US"/>
          </a:p>
        </p:txBody>
      </p:sp>
      <p:sp>
        <p:nvSpPr>
          <p:cNvPr id="11" name="Team Name">
            <a:extLst>
              <a:ext uri="{FF2B5EF4-FFF2-40B4-BE49-F238E27FC236}">
                <a16:creationId xmlns:a16="http://schemas.microsoft.com/office/drawing/2014/main" id="{5E6FFD31-DB3F-AE0B-6D6C-89EBAF90AE0A}"/>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1101852" y="1858975"/>
            <a:ext cx="10157155" cy="4302035"/>
          </a:xfrm>
          <a:prstGeom prst="rect">
            <a:avLst/>
          </a:prstGeom>
          <a:noFill/>
        </p:spPr>
        <p:txBody>
          <a:bodyPr wrap="square" lIns="0" tIns="0" rIns="0" bIns="0" rtlCol="0" anchor="t"/>
          <a:lstStyle/>
          <a:p>
            <a:pPr indent="0">
              <a:spcAft>
                <a:spcPts val="1000"/>
              </a:spcAft>
              <a:buClr>
                <a:schemeClr val="accent1"/>
              </a:buClr>
              <a:buSzPct val="100000"/>
              <a:buNone/>
            </a:pPr>
            <a:r>
              <a:rPr lang="en-US" altLang="en-US" sz="1600" b="1" dirty="0"/>
              <a:t>Hardware Requirements :</a:t>
            </a:r>
          </a:p>
          <a:p>
            <a:pPr indent="0">
              <a:spcAft>
                <a:spcPts val="1000"/>
              </a:spcAft>
              <a:buClr>
                <a:schemeClr val="accent1"/>
              </a:buClr>
              <a:buSzPct val="100000"/>
              <a:buNone/>
            </a:pPr>
            <a:r>
              <a:rPr lang="en-US" altLang="en-US" sz="1600" dirty="0"/>
              <a:t>Battery units, transmitter and receiver coils, high-frequency switching circuits, power converters, voltage and current sensors, temperature sensors, and a suitable controller for monitoring and testing.</a:t>
            </a:r>
          </a:p>
          <a:p>
            <a:pPr indent="0">
              <a:spcAft>
                <a:spcPts val="1000"/>
              </a:spcAft>
              <a:buClr>
                <a:schemeClr val="accent1"/>
              </a:buClr>
              <a:buSzPct val="100000"/>
              <a:buNone/>
            </a:pPr>
            <a:endParaRPr lang="en-US" altLang="en-US" sz="1600" dirty="0"/>
          </a:p>
          <a:p>
            <a:pPr indent="0">
              <a:spcAft>
                <a:spcPts val="1000"/>
              </a:spcAft>
              <a:buClr>
                <a:schemeClr val="accent1"/>
              </a:buClr>
              <a:buSzPct val="100000"/>
              <a:buNone/>
            </a:pPr>
            <a:r>
              <a:rPr lang="en-US" altLang="en-US" sz="1600" b="1" dirty="0"/>
              <a:t>Software Requirements :</a:t>
            </a:r>
          </a:p>
          <a:p>
            <a:pPr indent="0">
              <a:spcAft>
                <a:spcPts val="1000"/>
              </a:spcAft>
              <a:buClr>
                <a:schemeClr val="accent1"/>
              </a:buClr>
              <a:buSzPct val="100000"/>
              <a:buNone/>
            </a:pPr>
            <a:r>
              <a:rPr lang="en-US" altLang="en-US" sz="1600" dirty="0"/>
              <a:t>MATLAB/Simulink for system modeling and simulation, programming tools for controller development, and data visualization tools for analyzing battery behavior, power transfer efficiency, and thermal response.</a:t>
            </a:r>
          </a:p>
          <a:p>
            <a:pPr indent="0">
              <a:spcAft>
                <a:spcPts val="1000"/>
              </a:spcAft>
              <a:buClr>
                <a:schemeClr val="accent1"/>
              </a:buClr>
              <a:buSzPct val="100000"/>
              <a:buNone/>
            </a:pPr>
            <a:endParaRPr lang="en-US" altLang="en-US" sz="1600" dirty="0"/>
          </a:p>
          <a:p>
            <a:pPr indent="0">
              <a:spcAft>
                <a:spcPts val="1000"/>
              </a:spcAft>
              <a:buClr>
                <a:schemeClr val="accent1"/>
              </a:buClr>
              <a:buSzPct val="100000"/>
              <a:buNone/>
            </a:pPr>
            <a:r>
              <a:rPr lang="en-US" altLang="en-US" sz="1600" b="1" dirty="0"/>
              <a:t>Other Resources:</a:t>
            </a:r>
          </a:p>
          <a:p>
            <a:pPr indent="0">
              <a:spcAft>
                <a:spcPts val="1000"/>
              </a:spcAft>
              <a:buClr>
                <a:schemeClr val="accent1"/>
              </a:buClr>
              <a:buSzPct val="100000"/>
              <a:buNone/>
            </a:pPr>
            <a:r>
              <a:rPr lang="en-US" altLang="en-US" sz="1600" dirty="0"/>
              <a:t>Guidance from experienced faculty members, researchers, or industry professionals specializing in wireless power transfer and electromagnetics, power electronics, battery management and thermal engineering, and control systems and embedded electronics. Access to laboratory facilities, electrical safety equipment, relevant research papers, and technical documentation will also be required for system validation and prototype development.</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7</a:t>
            </a:fld>
            <a:endParaRPr lang="en-US"/>
          </a:p>
        </p:txBody>
      </p:sp>
      <p:sp>
        <p:nvSpPr>
          <p:cNvPr id="11" name="Team Name">
            <a:extLst>
              <a:ext uri="{FF2B5EF4-FFF2-40B4-BE49-F238E27FC236}">
                <a16:creationId xmlns:a16="http://schemas.microsoft.com/office/drawing/2014/main" id="{8CD9CB06-E337-9D7E-769B-C6D7898D29FB}"/>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39"/>
            <a:ext cx="10424160" cy="3572691"/>
          </a:xfrm>
          <a:prstGeom prst="rect">
            <a:avLst/>
          </a:prstGeom>
          <a:noFill/>
        </p:spPr>
        <p:txBody>
          <a:bodyPr wrap="square" lIns="0" tIns="0" rIns="0" bIns="0" rtlCol="0" anchor="t"/>
          <a:lstStyle/>
          <a:p>
            <a:pPr marL="279400" indent="-279400">
              <a:spcAft>
                <a:spcPts val="1000"/>
              </a:spcAft>
              <a:buClr>
                <a:schemeClr val="accent1"/>
              </a:buClr>
              <a:buSzPct val="100000"/>
              <a:buChar char="•"/>
            </a:pPr>
            <a:r>
              <a:rPr lang="en-US" sz="1800" b="1" dirty="0"/>
              <a:t>Initial Direction</a:t>
            </a:r>
          </a:p>
          <a:p>
            <a:pPr>
              <a:spcAft>
                <a:spcPts val="1000"/>
              </a:spcAft>
              <a:buClr>
                <a:schemeClr val="accent1"/>
              </a:buClr>
              <a:buSzPct val="100000"/>
            </a:pPr>
            <a:r>
              <a:rPr lang="en-US" dirty="0"/>
              <a:t>I</a:t>
            </a:r>
            <a:r>
              <a:rPr lang="en-US" sz="1800" dirty="0"/>
              <a:t>nvestigate an energy-management approach that combines dynamic wireless power transfer with coordinated battery operation. The study will consider battery state-of-charge, temperature, load demand, and changing wireless power availability. MATLAB/Simulink simulations will be used to evaluate system behavior under ideal and realistic operating conditions.</a:t>
            </a:r>
          </a:p>
          <a:p>
            <a:pPr marL="279400" indent="-279400">
              <a:spcAft>
                <a:spcPts val="1000"/>
              </a:spcAft>
              <a:buClr>
                <a:schemeClr val="accent1"/>
              </a:buClr>
              <a:buSzPct val="100000"/>
              <a:buChar char="•"/>
            </a:pPr>
            <a:r>
              <a:rPr lang="en-US" sz="1800" b="1" dirty="0"/>
              <a:t>What We Want to Improve</a:t>
            </a:r>
          </a:p>
          <a:p>
            <a:pPr>
              <a:spcAft>
                <a:spcPts val="1000"/>
              </a:spcAft>
              <a:buClr>
                <a:schemeClr val="accent1"/>
              </a:buClr>
              <a:buSzPct val="100000"/>
            </a:pPr>
            <a:r>
              <a:rPr lang="en-US" sz="1800" dirty="0"/>
              <a:t>Reduce charging-related downtime, improve energy utilization, manage battery thermal stress, and maintain reliable power delivery under changing operating conditions.</a:t>
            </a:r>
          </a:p>
          <a:p>
            <a:pPr marL="279400" indent="-279400">
              <a:spcAft>
                <a:spcPts val="1000"/>
              </a:spcAft>
              <a:buClr>
                <a:schemeClr val="accent1"/>
              </a:buClr>
              <a:buSzPct val="100000"/>
              <a:buChar char="•"/>
            </a:pPr>
            <a:r>
              <a:rPr lang="en-US" sz="1800" b="1" dirty="0"/>
              <a:t>Expected Outcome</a:t>
            </a:r>
          </a:p>
          <a:p>
            <a:pPr>
              <a:spcAft>
                <a:spcPts val="1000"/>
              </a:spcAft>
              <a:buClr>
                <a:schemeClr val="accent1"/>
              </a:buClr>
              <a:buSzPct val="100000"/>
            </a:pPr>
            <a:r>
              <a:rPr lang="en-US" sz="1800" dirty="0"/>
              <a:t>A validated simulation model demonstrating the potential for improved energy management and extended operating availability, followed by the development and experimental evaluation of a hardware prototype.</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8</a:t>
            </a:fld>
            <a:endParaRPr lang="en-US"/>
          </a:p>
        </p:txBody>
      </p:sp>
      <p:sp>
        <p:nvSpPr>
          <p:cNvPr id="11" name="Team Name">
            <a:extLst>
              <a:ext uri="{FF2B5EF4-FFF2-40B4-BE49-F238E27FC236}">
                <a16:creationId xmlns:a16="http://schemas.microsoft.com/office/drawing/2014/main" id="{D478F6DA-1533-DB0D-27BD-D699707902DF}"/>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Team Member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Responsibility in Execution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1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2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3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anose="020F0502020204030204" pitchFamily="34" charset="0"/>
                          <a:ea typeface="Calibri" panose="020F0502020204030204" pitchFamily="34" charset="-122"/>
                          <a:cs typeface="Calibri" panose="020F0502020204030204" pitchFamily="34" charset="-120"/>
                        </a:rPr>
                        <a:t>Member 4 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Role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anose="020F0502020204030204" pitchFamily="34" charset="0"/>
                          <a:ea typeface="Calibri" panose="020F0502020204030204" pitchFamily="34" charset="-122"/>
                          <a:cs typeface="Calibri" panose="020F0502020204030204" pitchFamily="34" charset="-120"/>
                        </a:rPr>
                        <a:t>What they will handle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9</a:t>
            </a:fld>
            <a:endParaRPr lang="en-US"/>
          </a:p>
        </p:txBody>
      </p:sp>
      <p:sp>
        <p:nvSpPr>
          <p:cNvPr id="6" name="Team Name">
            <a:extLst>
              <a:ext uri="{FF2B5EF4-FFF2-40B4-BE49-F238E27FC236}">
                <a16:creationId xmlns:a16="http://schemas.microsoft.com/office/drawing/2014/main" id="{79ACC060-C6A3-EEBF-E783-C443FEB9F922}"/>
              </a:ext>
            </a:extLst>
          </p:cNvPr>
          <p:cNvSpPr txBox="1"/>
          <p:nvPr/>
        </p:nvSpPr>
        <p:spPr>
          <a:xfrm>
            <a:off x="1380744" y="448056"/>
            <a:ext cx="1627632" cy="694944"/>
          </a:xfrm>
          <a:prstGeom prst="rect">
            <a:avLst/>
          </a:prstGeom>
          <a:noFill/>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sym typeface="+mn-ea"/>
              </a:rPr>
              <a:t>DynaCharge</a:t>
            </a:r>
            <a:endParaRPr lang="en-US" sz="1500" dirty="0"/>
          </a:p>
          <a:p>
            <a:pPr marL="0" indent="0">
              <a:buNone/>
            </a:pPr>
            <a:endParaRPr lang="en-US" sz="1500"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1057</Words>
  <Application>Microsoft Office PowerPoint</Application>
  <PresentationFormat>Widescreen</PresentationFormat>
  <Paragraphs>133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Maanasha S</cp:lastModifiedBy>
  <cp:revision>11</cp:revision>
  <dcterms:created xsi:type="dcterms:W3CDTF">2026-10-07T15:27:00Z</dcterms:created>
  <dcterms:modified xsi:type="dcterms:W3CDTF">2026-10-09T18:12:02Z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1138A720C8694F15B83415B51C98E39F_13</vt:lpwstr>
  </property>
</Properties>
</file>